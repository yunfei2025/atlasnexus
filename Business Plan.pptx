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7" r:id="rId3"/>
    <p:sldId id="257" r:id="rId4"/>
    <p:sldId id="263" r:id="rId5"/>
    <p:sldId id="269" r:id="rId6"/>
    <p:sldId id="265" r:id="rId7"/>
    <p:sldId id="275" r:id="rId8"/>
    <p:sldId id="264" r:id="rId9"/>
    <p:sldId id="259" r:id="rId10"/>
    <p:sldId id="27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7C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7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4E4B-7E40-4034-8316-F2DDCAF3910E}" type="datetimeFigureOut">
              <a:rPr lang="zh-CN" altLang="en-US" smtClean="0"/>
              <a:t>2025/1/20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AF57B-3601-417A-83A1-56A05EBAC9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4E4B-7E40-4034-8316-F2DDCAF3910E}" type="datetimeFigureOut">
              <a:rPr lang="zh-CN" altLang="en-US" smtClean="0"/>
              <a:t>2025/1/20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AF57B-3601-417A-83A1-56A05EBAC9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4E4B-7E40-4034-8316-F2DDCAF3910E}" type="datetimeFigureOut">
              <a:rPr lang="zh-CN" altLang="en-US" smtClean="0"/>
              <a:t>2025/1/20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AF57B-3601-417A-83A1-56A05EBAC9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4E4B-7E40-4034-8316-F2DDCAF3910E}" type="datetimeFigureOut">
              <a:rPr lang="zh-CN" altLang="en-US" smtClean="0"/>
              <a:t>2025/1/20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AF57B-3601-417A-83A1-56A05EBAC9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4E4B-7E40-4034-8316-F2DDCAF3910E}" type="datetimeFigureOut">
              <a:rPr lang="zh-CN" altLang="en-US" smtClean="0"/>
              <a:t>2025/1/20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AF57B-3601-417A-83A1-56A05EBAC9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4E4B-7E40-4034-8316-F2DDCAF3910E}" type="datetimeFigureOut">
              <a:rPr lang="zh-CN" altLang="en-US" smtClean="0"/>
              <a:t>2025/1/20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AF57B-3601-417A-83A1-56A05EBAC9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4E4B-7E40-4034-8316-F2DDCAF3910E}" type="datetimeFigureOut">
              <a:rPr lang="zh-CN" altLang="en-US" smtClean="0"/>
              <a:t>2025/1/20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AF57B-3601-417A-83A1-56A05EBAC9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4E4B-7E40-4034-8316-F2DDCAF3910E}" type="datetimeFigureOut">
              <a:rPr lang="zh-CN" altLang="en-US" smtClean="0"/>
              <a:t>2025/1/20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AF57B-3601-417A-83A1-56A05EBAC9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4E4B-7E40-4034-8316-F2DDCAF3910E}" type="datetimeFigureOut">
              <a:rPr lang="zh-CN" altLang="en-US" smtClean="0"/>
              <a:t>2025/1/20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AF57B-3601-417A-83A1-56A05EBAC9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4E4B-7E40-4034-8316-F2DDCAF3910E}" type="datetimeFigureOut">
              <a:rPr lang="zh-CN" altLang="en-US" smtClean="0"/>
              <a:t>2025/1/20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AF57B-3601-417A-83A1-56A05EBAC9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4E4B-7E40-4034-8316-F2DDCAF3910E}" type="datetimeFigureOut">
              <a:rPr lang="zh-CN" altLang="en-US" smtClean="0"/>
              <a:t>2025/1/20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AF57B-3601-417A-83A1-56A05EBAC9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14E4B-7E40-4034-8316-F2DDCAF3910E}" type="datetimeFigureOut">
              <a:rPr lang="zh-CN" altLang="en-US" smtClean="0"/>
              <a:t>2025/1/20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7AF57B-3601-417A-83A1-56A05EBAC9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4967" y="1122363"/>
            <a:ext cx="10986447" cy="2387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4400" dirty="0">
                <a:solidFill>
                  <a:srgbClr val="000000"/>
                </a:solidFill>
                <a:latin typeface="Helvetica" panose="020B0604020202020204" pitchFamily="34" charset="0"/>
              </a:rPr>
              <a:t>Strategy Review and Business Plan</a:t>
            </a:r>
            <a:br>
              <a:rPr lang="en-US" altLang="zh-CN" sz="4400" dirty="0">
                <a:solidFill>
                  <a:srgbClr val="000000"/>
                </a:solidFill>
                <a:latin typeface="Helvetica" panose="020B0604020202020204" pitchFamily="34" charset="0"/>
              </a:rPr>
            </a:br>
            <a:endParaRPr lang="zh-CN" altLang="en-US" sz="4400" dirty="0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sz="3200" dirty="0" err="1">
                <a:solidFill>
                  <a:srgbClr val="000000"/>
                </a:solidFill>
                <a:latin typeface="Helvetica" panose="020B0604020202020204" pitchFamily="34" charset="0"/>
                <a:ea typeface="+mj-ea"/>
                <a:cs typeface="+mj-cs"/>
              </a:rPr>
              <a:t>Yunfei</a:t>
            </a:r>
            <a:r>
              <a:rPr lang="en-US" altLang="zh-CN" sz="3200" dirty="0">
                <a:solidFill>
                  <a:srgbClr val="000000"/>
                </a:solidFill>
                <a:latin typeface="Helvetica" panose="020B0604020202020204" pitchFamily="34" charset="0"/>
                <a:ea typeface="+mj-ea"/>
                <a:cs typeface="+mj-cs"/>
              </a:rPr>
              <a:t> Ma</a:t>
            </a:r>
            <a:endParaRPr lang="zh-CN" altLang="en-US" sz="3200" dirty="0">
              <a:solidFill>
                <a:srgbClr val="000000"/>
              </a:solidFill>
              <a:latin typeface="Helvetica" panose="020B0604020202020204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Helvetica" panose="020B0604020202020204" pitchFamily="34" charset="0"/>
              </a:rPr>
              <a:t>Content</a:t>
            </a:r>
            <a:endParaRPr lang="zh-CN" altLang="en-US" dirty="0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Strategy Overview</a:t>
            </a:r>
          </a:p>
          <a:p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Philosophy</a:t>
            </a:r>
          </a:p>
          <a:p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Portfolio</a:t>
            </a:r>
          </a:p>
          <a:p>
            <a:pPr lvl="1"/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Book </a:t>
            </a:r>
          </a:p>
          <a:p>
            <a:pPr lvl="1"/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Investment Process</a:t>
            </a:r>
          </a:p>
          <a:p>
            <a:pPr lvl="1"/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Historical </a:t>
            </a:r>
            <a:r>
              <a:rPr lang="en-US" altLang="zh-CN" dirty="0" err="1">
                <a:latin typeface="Helvetica" panose="020B0604020202020204" pitchFamily="34" charset="0"/>
                <a:cs typeface="Helvetica" panose="020B0604020202020204" pitchFamily="34" charset="0"/>
              </a:rPr>
              <a:t>PnL</a:t>
            </a:r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 measures</a:t>
            </a:r>
          </a:p>
          <a:p>
            <a:pPr lvl="1"/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Track record</a:t>
            </a:r>
          </a:p>
          <a:p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Strategy Overview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7500" lnSpcReduction="20000"/>
          </a:bodyPr>
          <a:lstStyle/>
          <a:p>
            <a:pPr algn="l"/>
            <a:r>
              <a:rPr lang="en-US" altLang="zh-CN" b="0" dirty="0">
                <a:solidFill>
                  <a:srgbClr val="00000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Key alpha drivers: </a:t>
            </a:r>
          </a:p>
          <a:p>
            <a:pPr marL="457200" lvl="1" indent="0">
              <a:buNone/>
            </a:pPr>
            <a:r>
              <a:rPr lang="en-US" altLang="zh-CN" b="0" dirty="0">
                <a:solidFill>
                  <a:srgbClr val="00000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Relative values across </a:t>
            </a:r>
          </a:p>
          <a:p>
            <a:pPr lvl="1"/>
            <a:r>
              <a:rPr lang="en-US" altLang="zh-CN" b="0" dirty="0">
                <a:solidFill>
                  <a:srgbClr val="00000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different types of products </a:t>
            </a:r>
          </a:p>
          <a:p>
            <a:pPr lvl="1"/>
            <a:r>
              <a:rPr lang="en-US" altLang="zh-CN" b="0" dirty="0">
                <a:solidFill>
                  <a:srgbClr val="00000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different tenors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price deviation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Key beta followers: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Macros </a:t>
            </a:r>
            <a:endParaRPr lang="en-US" altLang="zh-CN" b="0" dirty="0">
              <a:solidFill>
                <a:srgbClr val="000000"/>
              </a:solidFill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r>
              <a:rPr lang="en-US" altLang="zh-CN" b="0" dirty="0">
                <a:solidFill>
                  <a:srgbClr val="00000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Institutional behaviors</a:t>
            </a:r>
          </a:p>
          <a:p>
            <a:pPr algn="l"/>
            <a:r>
              <a:rPr lang="en-US" altLang="zh-CN" b="0" dirty="0">
                <a:solidFill>
                  <a:srgbClr val="00000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Instrument universe: </a:t>
            </a:r>
          </a:p>
          <a:p>
            <a:pPr marL="457200" lvl="1" indent="0">
              <a:buNone/>
            </a:pPr>
            <a:r>
              <a:rPr lang="en-US" altLang="zh-CN" b="0" dirty="0">
                <a:solidFill>
                  <a:srgbClr val="00000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Fixed-income rates products</a:t>
            </a:r>
          </a:p>
          <a:p>
            <a:pPr lvl="1"/>
            <a:r>
              <a:rPr lang="en-US" altLang="zh-CN" b="0" dirty="0">
                <a:solidFill>
                  <a:srgbClr val="00000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bonds</a:t>
            </a:r>
          </a:p>
          <a:p>
            <a:pPr lvl="1"/>
            <a:r>
              <a:rPr lang="en-US" altLang="zh-CN" b="0" dirty="0">
                <a:solidFill>
                  <a:srgbClr val="00000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swaps </a:t>
            </a:r>
          </a:p>
          <a:p>
            <a:pPr lvl="1"/>
            <a:r>
              <a:rPr lang="en-US" altLang="zh-CN" b="0" dirty="0">
                <a:solidFill>
                  <a:srgbClr val="00000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futures</a:t>
            </a:r>
          </a:p>
          <a:p>
            <a:endParaRPr lang="zh-CN" alt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Helvetica" panose="020B0604020202020204" pitchFamily="34" charset="0"/>
              </a:rPr>
              <a:t>Philosophy</a:t>
            </a:r>
            <a:endParaRPr lang="zh-CN" altLang="en-US" dirty="0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Profit from macros and market inefficiencies</a:t>
            </a:r>
          </a:p>
          <a:p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Directional speculation based on information from </a:t>
            </a:r>
          </a:p>
          <a:p>
            <a:pPr lvl="1"/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Macros </a:t>
            </a:r>
          </a:p>
          <a:p>
            <a:pPr lvl="1"/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Market microstructures</a:t>
            </a:r>
          </a:p>
          <a:p>
            <a:pPr lvl="1"/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Order flows</a:t>
            </a:r>
          </a:p>
          <a:p>
            <a:r>
              <a:rPr lang="en-US" altLang="zh-CN" dirty="0" err="1">
                <a:latin typeface="Helvetica" panose="020B0604020202020204" pitchFamily="34" charset="0"/>
                <a:cs typeface="Helvetica" panose="020B0604020202020204" pitchFamily="34" charset="0"/>
              </a:rPr>
              <a:t>Indirectional</a:t>
            </a:r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 trade based on relative value using</a:t>
            </a:r>
          </a:p>
          <a:p>
            <a:pPr marL="457200" lvl="1" indent="0">
              <a:buNone/>
            </a:pPr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Top-down approach to long cheap and short expensive </a:t>
            </a:r>
          </a:p>
          <a:p>
            <a:pPr lvl="1"/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Cross-product</a:t>
            </a:r>
          </a:p>
          <a:p>
            <a:pPr lvl="1"/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Cross-tenor</a:t>
            </a:r>
          </a:p>
          <a:p>
            <a:pPr lvl="1"/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Curve arbitrage </a:t>
            </a:r>
          </a:p>
          <a:p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Rigorous risk management</a:t>
            </a:r>
            <a:endParaRPr lang="zh-CN" alt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Helvetica" panose="020B0604020202020204" pitchFamily="34" charset="0"/>
              </a:rPr>
              <a:t>Main strategies for different scenarios </a:t>
            </a:r>
            <a:endParaRPr lang="zh-CN" altLang="en-US" dirty="0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4812306"/>
              </p:ext>
            </p:extLst>
          </p:nvPr>
        </p:nvGraphicFramePr>
        <p:xfrm>
          <a:off x="1673274" y="1690688"/>
          <a:ext cx="8845452" cy="4456894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43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8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560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7106">
                <a:tc rowSpan="2" gridSpan="2">
                  <a:txBody>
                    <a:bodyPr/>
                    <a:lstStyle/>
                    <a:p>
                      <a:pPr algn="l" fontAlgn="ctr"/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Expectation of economic growth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106"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9525" marR="9525" marT="9525" marB="0" anchor="ctr"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High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Low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134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Funding rate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vert="vert27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High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u="none" strike="noStrike" dirty="0">
                          <a:effectLst/>
                        </a:rPr>
                        <a:t>2022.10-2022.12, </a:t>
                      </a:r>
                      <a:r>
                        <a:rPr lang="en-US" sz="1800" u="none" strike="noStrike" dirty="0">
                          <a:effectLst/>
                        </a:rPr>
                        <a:t>2023.8-2023.10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800" u="none" strike="noStrike" dirty="0">
                          <a:effectLst/>
                        </a:rPr>
                        <a:t>no</a:t>
                      </a:r>
                      <a:r>
                        <a:rPr lang="en-US" sz="1800" u="none" strike="noStrike" dirty="0">
                          <a:effectLst/>
                        </a:rPr>
                        <a:t> leveraging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800" u="none" strike="noStrike" dirty="0">
                          <a:effectLst/>
                        </a:rPr>
                        <a:t>short bond with low carry and roll, long bond with high carry and roll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swap hedging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dirty="0">
                          <a:effectLst/>
                        </a:rPr>
                        <a:t>2023.10-2024.3, </a:t>
                      </a:r>
                      <a:r>
                        <a:rPr lang="en-US" altLang="zh-CN" sz="1800" u="none" strike="noStrike" dirty="0" smtClean="0">
                          <a:effectLst/>
                        </a:rPr>
                        <a:t>2024.9-</a:t>
                      </a:r>
                      <a:r>
                        <a:rPr lang="en-US" sz="1800" u="none" strike="noStrike" dirty="0" smtClean="0">
                          <a:effectLst/>
                        </a:rPr>
                        <a:t>2024.12</a:t>
                      </a:r>
                      <a:endParaRPr lang="en-US" sz="1800" u="none" strike="noStrike" dirty="0">
                        <a:effectLst/>
                      </a:endParaRP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800" u="none" strike="noStrike" dirty="0">
                          <a:effectLst/>
                        </a:rPr>
                        <a:t>low leveraging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800" u="none" strike="noStrike" dirty="0" smtClean="0">
                          <a:effectLst/>
                        </a:rPr>
                        <a:t>hold</a:t>
                      </a:r>
                      <a:r>
                        <a:rPr lang="en-US" sz="1800" u="none" strike="noStrike" baseline="0" dirty="0" smtClean="0">
                          <a:effectLst/>
                        </a:rPr>
                        <a:t> </a:t>
                      </a:r>
                      <a:r>
                        <a:rPr lang="en-US" sz="1800" u="none" strike="noStrike" dirty="0" smtClean="0">
                          <a:effectLst/>
                        </a:rPr>
                        <a:t>long </a:t>
                      </a:r>
                      <a:r>
                        <a:rPr lang="en-US" sz="1800" u="none" strike="noStrike" dirty="0">
                          <a:effectLst/>
                        </a:rPr>
                        <a:t>duration bonds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800" u="none" strike="noStrike" dirty="0">
                          <a:effectLst/>
                        </a:rPr>
                        <a:t>swap flattener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134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Low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2023.1-2023.3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800" u="none" strike="noStrike" dirty="0">
                          <a:effectLst/>
                        </a:rPr>
                        <a:t>maximize leveraging 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800" u="none" strike="noStrike" dirty="0">
                          <a:effectLst/>
                        </a:rPr>
                        <a:t>long bond with high carry and roll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800" u="none" strike="noStrike" dirty="0">
                          <a:effectLst/>
                        </a:rPr>
                        <a:t>swap </a:t>
                      </a:r>
                      <a:r>
                        <a:rPr lang="en-US" sz="1800" u="none" strike="noStrike" dirty="0" err="1">
                          <a:effectLst/>
                        </a:rPr>
                        <a:t>steepener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2022.6-2022.9,</a:t>
                      </a:r>
                      <a:r>
                        <a:rPr lang="en-US" sz="1800" u="none" strike="noStrike" baseline="0" dirty="0">
                          <a:effectLst/>
                        </a:rPr>
                        <a:t> </a:t>
                      </a:r>
                      <a:r>
                        <a:rPr lang="en-US" sz="1800" u="none" strike="noStrike" dirty="0">
                          <a:effectLst/>
                        </a:rPr>
                        <a:t>2023.4-2023.7,  </a:t>
                      </a:r>
                      <a:r>
                        <a:rPr lang="en-US" sz="1800" u="none" strike="noStrike" dirty="0" smtClean="0">
                          <a:effectLst/>
                        </a:rPr>
                        <a:t>2024.4-2024.8,</a:t>
                      </a:r>
                      <a:endParaRPr lang="en-US" sz="1800" u="none" strike="noStrike" dirty="0">
                        <a:effectLst/>
                      </a:endParaRP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800" u="none" strike="noStrike" dirty="0">
                          <a:effectLst/>
                        </a:rPr>
                        <a:t>maximize leveraging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800" u="none" strike="noStrike" dirty="0">
                          <a:effectLst/>
                        </a:rPr>
                        <a:t>long bonds with long</a:t>
                      </a:r>
                      <a:r>
                        <a:rPr lang="en-US" sz="1800" dirty="0">
                          <a:effectLst/>
                          <a:sym typeface="+mn-ea"/>
                        </a:rPr>
                        <a:t> </a:t>
                      </a:r>
                      <a:r>
                        <a:rPr lang="en-US" sz="1800" dirty="0" err="1">
                          <a:effectLst/>
                          <a:sym typeface="+mn-ea"/>
                        </a:rPr>
                        <a:t>duration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Helvetica" panose="020B0604020202020204" pitchFamily="34" charset="0"/>
              </a:rPr>
              <a:t>Portfolio: Investment process</a:t>
            </a:r>
            <a:endParaRPr lang="zh-CN" altLang="en-US" dirty="0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Quantitative screening</a:t>
            </a:r>
          </a:p>
          <a:p>
            <a:pPr lvl="1"/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Sector selection</a:t>
            </a:r>
          </a:p>
          <a:p>
            <a:pPr lvl="1"/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Historical market data and curve pricing</a:t>
            </a:r>
          </a:p>
          <a:p>
            <a:pPr lvl="1"/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Z-score derived from statistical analysis</a:t>
            </a:r>
          </a:p>
          <a:p>
            <a:pPr lvl="1"/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Price-volume trends and distribution</a:t>
            </a:r>
          </a:p>
          <a:p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Crosschecked by fundamentals</a:t>
            </a:r>
          </a:p>
          <a:p>
            <a:pPr lvl="1"/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Repo rates and macro-economics</a:t>
            </a:r>
          </a:p>
          <a:p>
            <a:pPr lvl="1"/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Institutional product/tenor preference</a:t>
            </a:r>
          </a:p>
          <a:p>
            <a:pPr lvl="1"/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Market regime change</a:t>
            </a:r>
          </a:p>
          <a:p>
            <a:pPr lvl="1"/>
            <a:endParaRPr lang="zh-CN" alt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Helvetica" panose="020B0604020202020204" pitchFamily="34" charset="0"/>
              </a:rPr>
              <a:t>Portfolio: Track Record</a:t>
            </a:r>
            <a:endParaRPr lang="zh-CN" altLang="en-US" dirty="0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B85FC07-988E-09A4-4ED0-1DD3AD219D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8949814"/>
              </p:ext>
            </p:extLst>
          </p:nvPr>
        </p:nvGraphicFramePr>
        <p:xfrm>
          <a:off x="701040" y="1827886"/>
          <a:ext cx="5784167" cy="3953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8344">
                  <a:extLst>
                    <a:ext uri="{9D8B030D-6E8A-4147-A177-3AD203B41FA5}">
                      <a16:colId xmlns:a16="http://schemas.microsoft.com/office/drawing/2014/main" val="2012589883"/>
                    </a:ext>
                  </a:extLst>
                </a:gridCol>
                <a:gridCol w="1229135">
                  <a:extLst>
                    <a:ext uri="{9D8B030D-6E8A-4147-A177-3AD203B41FA5}">
                      <a16:colId xmlns:a16="http://schemas.microsoft.com/office/drawing/2014/main" val="1511265570"/>
                    </a:ext>
                  </a:extLst>
                </a:gridCol>
                <a:gridCol w="1518344">
                  <a:extLst>
                    <a:ext uri="{9D8B030D-6E8A-4147-A177-3AD203B41FA5}">
                      <a16:colId xmlns:a16="http://schemas.microsoft.com/office/drawing/2014/main" val="3157370261"/>
                    </a:ext>
                  </a:extLst>
                </a:gridCol>
                <a:gridCol w="1518344">
                  <a:extLst>
                    <a:ext uri="{9D8B030D-6E8A-4147-A177-3AD203B41FA5}">
                      <a16:colId xmlns:a16="http://schemas.microsoft.com/office/drawing/2014/main" val="1703546534"/>
                    </a:ext>
                  </a:extLst>
                </a:gridCol>
              </a:tblGrid>
              <a:tr h="494242">
                <a:tc>
                  <a:txBody>
                    <a:bodyPr/>
                    <a:lstStyle/>
                    <a:p>
                      <a:pPr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zh-CN" alt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4D7C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2022/6/1-2022/12/31</a:t>
                      </a:r>
                      <a:endParaRPr lang="en-US" altLang="zh-CN" sz="1400" b="1" i="0" u="none" strike="noStrike" dirty="0">
                        <a:solidFill>
                          <a:schemeClr val="bg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rgbClr val="4D7C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2023/1/1-2023/12/31</a:t>
                      </a:r>
                      <a:endParaRPr lang="en-US" altLang="zh-CN" sz="1400" b="1" i="0" u="none" strike="noStrike" dirty="0">
                        <a:solidFill>
                          <a:schemeClr val="bg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rgbClr val="4D7C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2024/1/1-2023/12/31</a:t>
                      </a:r>
                      <a:endParaRPr lang="en-US" altLang="zh-CN" sz="1400" b="1" i="0" u="none" strike="noStrike" dirty="0">
                        <a:solidFill>
                          <a:schemeClr val="bg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rgbClr val="4D7C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7871594"/>
                  </a:ext>
                </a:extLst>
              </a:tr>
              <a:tr h="494242">
                <a:tc>
                  <a:txBody>
                    <a:bodyPr/>
                    <a:lstStyle/>
                    <a:p>
                      <a:pPr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Size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rgbClr val="4D7C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400" u="none" strike="noStrike" dirty="0">
                          <a:effectLst/>
                        </a:rPr>
                        <a:t>3000M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400" u="none" strike="noStrike" dirty="0">
                          <a:effectLst/>
                        </a:rPr>
                        <a:t>5000M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400" u="none" strike="noStrike" dirty="0">
                          <a:effectLst/>
                        </a:rPr>
                        <a:t>5000M 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78290849"/>
                  </a:ext>
                </a:extLst>
              </a:tr>
              <a:tr h="494242">
                <a:tc>
                  <a:txBody>
                    <a:bodyPr/>
                    <a:lstStyle/>
                    <a:p>
                      <a:pPr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total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rgbClr val="4D7C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400" u="none" strike="noStrike" dirty="0" smtClean="0">
                          <a:effectLst/>
                        </a:rPr>
                        <a:t>592M 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400" u="none" strike="noStrike" dirty="0" smtClean="0">
                          <a:effectLst/>
                        </a:rPr>
                        <a:t>245M 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4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522M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71737462"/>
                  </a:ext>
                </a:extLst>
              </a:tr>
              <a:tr h="494242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annual</a:t>
                      </a:r>
                      <a:r>
                        <a:rPr lang="en-US" altLang="zh-CN" sz="1400" b="1" u="none" strike="noStrike" baseline="0" dirty="0" smtClean="0">
                          <a:solidFill>
                            <a:schemeClr val="bg1"/>
                          </a:solidFill>
                          <a:effectLst/>
                        </a:rPr>
                        <a:t> return</a:t>
                      </a:r>
                      <a:endParaRPr lang="en-US" altLang="zh-CN" sz="1400" b="1" i="0" u="none" strike="noStrike" dirty="0" smtClean="0">
                        <a:solidFill>
                          <a:schemeClr val="bg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rgbClr val="4D7C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400" u="none" strike="noStrike" dirty="0" smtClean="0">
                          <a:effectLst/>
                        </a:rPr>
                        <a:t>3.38%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400" u="none" strike="noStrike" dirty="0" smtClean="0">
                          <a:effectLst/>
                        </a:rPr>
                        <a:t>4.90%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400" u="none" strike="noStrike" dirty="0" smtClean="0">
                          <a:effectLst/>
                        </a:rPr>
                        <a:t>10.45%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41408402"/>
                  </a:ext>
                </a:extLst>
              </a:tr>
              <a:tr h="494242">
                <a:tc>
                  <a:txBody>
                    <a:bodyPr/>
                    <a:lstStyle/>
                    <a:p>
                      <a:pPr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volatility</a:t>
                      </a:r>
                    </a:p>
                  </a:txBody>
                  <a:tcPr marL="0" marR="0" marT="0" marB="0" anchor="ctr">
                    <a:solidFill>
                      <a:srgbClr val="4D7C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400" u="none" strike="noStrike" dirty="0" smtClean="0">
                          <a:effectLst/>
                        </a:rPr>
                        <a:t>0.65%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400" u="none" strike="noStrike" dirty="0" smtClean="0">
                          <a:effectLst/>
                        </a:rPr>
                        <a:t>1.08%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400" u="none" strike="noStrike" dirty="0" smtClean="0">
                          <a:effectLst/>
                        </a:rPr>
                        <a:t>2.33%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57037984"/>
                  </a:ext>
                </a:extLst>
              </a:tr>
              <a:tr h="494242">
                <a:tc>
                  <a:txBody>
                    <a:bodyPr/>
                    <a:lstStyle/>
                    <a:p>
                      <a:pPr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Risk Free Rate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rgbClr val="4D7C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400" u="none" strike="noStrike" dirty="0">
                          <a:effectLst/>
                        </a:rPr>
                        <a:t>1.79%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400" u="none" strike="noStrike">
                          <a:effectLst/>
                        </a:rPr>
                        <a:t>2.17%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400" u="none" strike="noStrike" dirty="0">
                          <a:effectLst/>
                        </a:rPr>
                        <a:t>1.96%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37470931"/>
                  </a:ext>
                </a:extLst>
              </a:tr>
              <a:tr h="494242">
                <a:tc>
                  <a:txBody>
                    <a:bodyPr/>
                    <a:lstStyle/>
                    <a:p>
                      <a:pPr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Sharpe Ratio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rgbClr val="4D7C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400" u="none" strike="noStrike" dirty="0" smtClean="0">
                          <a:effectLst/>
                        </a:rPr>
                        <a:t>2.47 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400" u="none" strike="noStrike" dirty="0" smtClean="0">
                          <a:effectLst/>
                        </a:rPr>
                        <a:t>2.54 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400" u="none" strike="noStrike" dirty="0" smtClean="0">
                          <a:effectLst/>
                        </a:rPr>
                        <a:t>3.65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82428954"/>
                  </a:ext>
                </a:extLst>
              </a:tr>
              <a:tr h="494242">
                <a:tc>
                  <a:txBody>
                    <a:bodyPr/>
                    <a:lstStyle/>
                    <a:p>
                      <a:pPr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MDD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rgbClr val="4D7C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400" u="none" strike="noStrike" dirty="0" smtClean="0">
                          <a:effectLst/>
                        </a:rPr>
                        <a:t>-0.14%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400" u="none" strike="noStrike" dirty="0">
                          <a:effectLst/>
                        </a:rPr>
                        <a:t>-</a:t>
                      </a:r>
                      <a:r>
                        <a:rPr lang="en-US" altLang="zh-CN" sz="1400" u="none" strike="noStrike" dirty="0" smtClean="0">
                          <a:effectLst/>
                        </a:rPr>
                        <a:t>0.55%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400" u="none" strike="noStrike" dirty="0">
                          <a:effectLst/>
                        </a:rPr>
                        <a:t>-0.76%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4575382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3BD0EBD-2B76-5747-F93C-A23AB66A816D}"/>
              </a:ext>
            </a:extLst>
          </p:cNvPr>
          <p:cNvSpPr txBox="1"/>
          <p:nvPr/>
        </p:nvSpPr>
        <p:spPr>
          <a:xfrm>
            <a:off x="701040" y="5919020"/>
            <a:ext cx="2494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Currency unit in CNY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Max leveraging ratio is 2.0</a:t>
            </a:r>
            <a:endParaRPr lang="zh-CN" altLang="en-US" sz="14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122299"/>
              </p:ext>
            </p:extLst>
          </p:nvPr>
        </p:nvGraphicFramePr>
        <p:xfrm>
          <a:off x="6905870" y="841540"/>
          <a:ext cx="4850640" cy="5600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5580">
                  <a:extLst>
                    <a:ext uri="{9D8B030D-6E8A-4147-A177-3AD203B41FA5}">
                      <a16:colId xmlns:a16="http://schemas.microsoft.com/office/drawing/2014/main" val="1662773105"/>
                    </a:ext>
                  </a:extLst>
                </a:gridCol>
                <a:gridCol w="958765">
                  <a:extLst>
                    <a:ext uri="{9D8B030D-6E8A-4147-A177-3AD203B41FA5}">
                      <a16:colId xmlns:a16="http://schemas.microsoft.com/office/drawing/2014/main" val="1578098741"/>
                    </a:ext>
                  </a:extLst>
                </a:gridCol>
                <a:gridCol w="958765">
                  <a:extLst>
                    <a:ext uri="{9D8B030D-6E8A-4147-A177-3AD203B41FA5}">
                      <a16:colId xmlns:a16="http://schemas.microsoft.com/office/drawing/2014/main" val="2511732406"/>
                    </a:ext>
                  </a:extLst>
                </a:gridCol>
                <a:gridCol w="958765">
                  <a:extLst>
                    <a:ext uri="{9D8B030D-6E8A-4147-A177-3AD203B41FA5}">
                      <a16:colId xmlns:a16="http://schemas.microsoft.com/office/drawing/2014/main" val="3103420344"/>
                    </a:ext>
                  </a:extLst>
                </a:gridCol>
                <a:gridCol w="958765">
                  <a:extLst>
                    <a:ext uri="{9D8B030D-6E8A-4147-A177-3AD203B41FA5}">
                      <a16:colId xmlns:a16="http://schemas.microsoft.com/office/drawing/2014/main" val="686764184"/>
                    </a:ext>
                  </a:extLst>
                </a:gridCol>
              </a:tblGrid>
              <a:tr h="25060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solidFill>
                            <a:schemeClr val="bg1"/>
                          </a:solidFill>
                          <a:effectLst/>
                        </a:rPr>
                        <a:t>Date</a:t>
                      </a:r>
                      <a:endParaRPr lang="en-US" sz="1050" b="0" i="0" u="none" strike="noStrike" dirty="0">
                        <a:solidFill>
                          <a:schemeClr val="bg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rgbClr val="4D7C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solidFill>
                            <a:schemeClr val="bg1"/>
                          </a:solidFill>
                          <a:effectLst/>
                        </a:rPr>
                        <a:t> Return</a:t>
                      </a:r>
                      <a:endParaRPr lang="en-US" sz="1050" b="0" i="0" u="none" strike="noStrike" dirty="0">
                        <a:solidFill>
                          <a:schemeClr val="bg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rgbClr val="4D7C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solidFill>
                            <a:schemeClr val="bg1"/>
                          </a:solidFill>
                          <a:effectLst/>
                        </a:rPr>
                        <a:t>Short-term Bond Fund Index</a:t>
                      </a:r>
                      <a:endParaRPr lang="en-US" sz="1050" b="0" i="0" u="none" strike="noStrike" dirty="0">
                        <a:solidFill>
                          <a:schemeClr val="bg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rgbClr val="4D7C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solidFill>
                            <a:schemeClr val="bg1"/>
                          </a:solidFill>
                          <a:effectLst/>
                        </a:rPr>
                        <a:t>Long-term Bond Fund Index</a:t>
                      </a:r>
                      <a:endParaRPr lang="en-US" sz="1050" b="0" i="0" u="none" strike="noStrike" dirty="0">
                        <a:solidFill>
                          <a:schemeClr val="bg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rgbClr val="4D7C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solidFill>
                            <a:schemeClr val="bg1"/>
                          </a:solidFill>
                          <a:effectLst/>
                        </a:rPr>
                        <a:t>Compound Bond Fund Index</a:t>
                      </a:r>
                      <a:endParaRPr lang="en-US" sz="1050" b="0" i="0" u="none" strike="noStrike" dirty="0">
                        <a:solidFill>
                          <a:schemeClr val="bg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rgbClr val="4D7C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60223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2022-06-30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0.09%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0.13%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0.11%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0.71%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03072137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 dirty="0">
                          <a:effectLst/>
                        </a:rPr>
                        <a:t>2022-07-29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0.42%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0.50%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0.65%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1.18%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3712898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2022-08-31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0.87%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0.77%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1.05%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1.24%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14633899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2022-09-30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0.80%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0.86%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1.13%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1.01%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11696344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2022-10-31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 dirty="0">
                          <a:effectLst/>
                        </a:rPr>
                        <a:t>1.10%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1.07%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1.46%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1.09%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23000288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2022-11-30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1.12%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0.78%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0.82%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0.70%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233082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2022-12-30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 dirty="0">
                          <a:effectLst/>
                        </a:rPr>
                        <a:t>1.15%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0.83%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0.86%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0.49%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1355094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 dirty="0">
                          <a:effectLst/>
                        </a:rPr>
                        <a:t>2023-01-31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0.13%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0.24%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0.10%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0.50%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509841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2023-02-28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 dirty="0">
                          <a:effectLst/>
                        </a:rPr>
                        <a:t>0.14%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 dirty="0">
                          <a:effectLst/>
                        </a:rPr>
                        <a:t>0.50%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0.38%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0.64%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980204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2023-03-31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0.54%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 dirty="0">
                          <a:effectLst/>
                        </a:rPr>
                        <a:t>0.88%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0.88%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1.05%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62443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2023-04-28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1.35%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 dirty="0">
                          <a:effectLst/>
                        </a:rPr>
                        <a:t>1.20%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 dirty="0">
                          <a:effectLst/>
                        </a:rPr>
                        <a:t>1.26%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1.38%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197471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2023-05-31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2.30%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1.60%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 dirty="0">
                          <a:effectLst/>
                        </a:rPr>
                        <a:t>1.74%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1.61%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80954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2023-06-30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2.75%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 dirty="0">
                          <a:effectLst/>
                        </a:rPr>
                        <a:t>1.82%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 dirty="0">
                          <a:effectLst/>
                        </a:rPr>
                        <a:t>2.04%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1.95%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302015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2023-07-31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3.32%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2.07%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2.29%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 dirty="0">
                          <a:effectLst/>
                        </a:rPr>
                        <a:t>2.27%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951767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2023-08-31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3.45%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2.38%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2.71%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 dirty="0">
                          <a:effectLst/>
                        </a:rPr>
                        <a:t>2.38%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777976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2023-09-28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3.40%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2.40%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2.61%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 dirty="0">
                          <a:effectLst/>
                        </a:rPr>
                        <a:t>2.20%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68631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2023-10-31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3.49%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2.57%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2.71%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 dirty="0">
                          <a:effectLst/>
                        </a:rPr>
                        <a:t>2.10%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350436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2023-11-30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4.01%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2.78%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2.93%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 dirty="0">
                          <a:effectLst/>
                        </a:rPr>
                        <a:t>2.25%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636932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2023-12-31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4.90%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3.21%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3.55%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 dirty="0">
                          <a:effectLst/>
                        </a:rPr>
                        <a:t>2.75%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241995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2024-01-31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1.39%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0.37%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 dirty="0">
                          <a:effectLst/>
                        </a:rPr>
                        <a:t>0.50%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-0.13%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86807480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2024-02-29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2.80%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0.74%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 dirty="0">
                          <a:effectLst/>
                        </a:rPr>
                        <a:t>1.02%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0.76%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72369720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2024-03-29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3.28%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0.90%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 dirty="0">
                          <a:effectLst/>
                        </a:rPr>
                        <a:t>1.21%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1.00%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28521796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2024-04-30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3.40%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1.19%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 dirty="0">
                          <a:effectLst/>
                        </a:rPr>
                        <a:t>1.55%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1.48%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87024373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2024-05-30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4.20%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1.45%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 dirty="0">
                          <a:effectLst/>
                        </a:rPr>
                        <a:t>1.92%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1.89%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95010978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2024-05-31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4.19%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1.46%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 dirty="0">
                          <a:effectLst/>
                        </a:rPr>
                        <a:t>1.93%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1.88%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29706386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2024-06-28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5.14%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1.72%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 dirty="0">
                          <a:effectLst/>
                        </a:rPr>
                        <a:t>2.39%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2.08%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5074927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2024-07-31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5.80%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2.00%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2.83%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2.29%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85780455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2024-08-30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5.96%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1.99%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2.77%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2.00%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73051897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2024-09-30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6.21%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1.98%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2.72%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2.66%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21367819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2024-10-30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6.71%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2.10%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2.87%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2.76%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63224078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2024-11-29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7.90%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2.47%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3.51%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 dirty="0">
                          <a:effectLst/>
                        </a:rPr>
                        <a:t>3.46%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19090229"/>
                  </a:ext>
                </a:extLst>
              </a:tr>
              <a:tr h="1281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2024-12-31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10.45%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3.01%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>
                          <a:effectLst/>
                        </a:rPr>
                        <a:t>4.60%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50" u="none" strike="noStrike" dirty="0">
                          <a:effectLst/>
                        </a:rPr>
                        <a:t>4.48%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168298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Helvetica" panose="020B0604020202020204" pitchFamily="34" charset="0"/>
              </a:rPr>
              <a:t>Portfolio: Book Composition</a:t>
            </a:r>
            <a:endParaRPr lang="zh-CN" altLang="en-US" dirty="0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3506842"/>
              </p:ext>
            </p:extLst>
          </p:nvPr>
        </p:nvGraphicFramePr>
        <p:xfrm>
          <a:off x="838200" y="1473933"/>
          <a:ext cx="10515599" cy="40226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2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1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53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774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Main Strategy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Secondary Strategy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Tertiary Strategy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Key strategies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Directional, </a:t>
                      </a:r>
                    </a:p>
                    <a:p>
                      <a:r>
                        <a:rPr lang="en-US" altLang="zh-CN" dirty="0"/>
                        <a:t>Select sector and construct base portfolio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Indirectional</a:t>
                      </a:r>
                      <a:r>
                        <a:rPr lang="en-US" altLang="zh-CN" dirty="0"/>
                        <a:t>,</a:t>
                      </a:r>
                    </a:p>
                    <a:p>
                      <a:r>
                        <a:rPr lang="en-US" altLang="zh-CN" dirty="0"/>
                        <a:t>Buy and sell bonds based on relative values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err="1"/>
                        <a:t>Indirectional</a:t>
                      </a:r>
                      <a:r>
                        <a:rPr lang="en-US" altLang="zh-CN" dirty="0"/>
                        <a:t>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Construct flattener/</a:t>
                      </a:r>
                      <a:r>
                        <a:rPr lang="en-US" altLang="zh-CN" dirty="0" err="1"/>
                        <a:t>steepener</a:t>
                      </a:r>
                      <a:r>
                        <a:rPr lang="en-US" altLang="zh-CN" dirty="0"/>
                        <a:t>/butterfly using bonds and/or swaps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Volume and Percentage of capital used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Average 75%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Based on strategy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aseline="0" dirty="0"/>
                        <a:t>Single side max 20%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Key </a:t>
                      </a:r>
                      <a:r>
                        <a:rPr lang="en-US" altLang="zh-CN" dirty="0" err="1"/>
                        <a:t>pnl</a:t>
                      </a:r>
                      <a:r>
                        <a:rPr lang="en-US" altLang="zh-CN" dirty="0"/>
                        <a:t> drivers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Market beta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Alphas from curve pricing, market inefficiencies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Macros</a:t>
                      </a:r>
                      <a:endParaRPr lang="zh-CN" altLang="en-US" dirty="0"/>
                    </a:p>
                    <a:p>
                      <a:r>
                        <a:rPr lang="en-US" altLang="zh-CN" dirty="0"/>
                        <a:t>and statistics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Risk limit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DV01 5M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Based on strategy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1M/side/trade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Holding period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Monthly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Less than a week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weeks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Technology</a:t>
            </a:r>
            <a:endParaRPr lang="zh-CN" alt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43640" y="1423402"/>
          <a:ext cx="10304720" cy="483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5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9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6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23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Category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Item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Function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Techniques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US" altLang="zh-CN" sz="1600" dirty="0"/>
                        <a:t>Existing 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resources </a:t>
                      </a:r>
                    </a:p>
                    <a:p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(self-designed and transferable)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Web Viewer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Historical time series analysis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python dash module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Excel Spreadsheet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Real time data monitor, RV, hedging ratio z-score, carry, roll, etc.  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python scripts and VBA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Pricing libraries and basic </a:t>
                      </a:r>
                      <a:r>
                        <a:rPr lang="en-US" altLang="zh-CN" sz="1600" dirty="0" err="1"/>
                        <a:t>backtesting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Curve pricing, statistical analysis and calibration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Python, based on no-arbitrage affine models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r>
                        <a:rPr lang="en-US" altLang="zh-CN" sz="1600" dirty="0"/>
                        <a:t>New needs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Data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Cleaned historical and real time data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High-efficient database processing language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err="1"/>
                        <a:t>Backtesting</a:t>
                      </a:r>
                      <a:r>
                        <a:rPr lang="en-US" altLang="zh-CN" sz="1600" dirty="0"/>
                        <a:t> framework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Evaluate strategies and computing parameters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Parallel computing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Trade execution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spread/butterfly order placement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OMS,</a:t>
                      </a:r>
                      <a:r>
                        <a:rPr lang="en-US" altLang="zh-CN" sz="1600" baseline="0" dirty="0"/>
                        <a:t> </a:t>
                      </a:r>
                      <a:r>
                        <a:rPr lang="en-US" altLang="zh-CN" sz="1600" dirty="0"/>
                        <a:t>EMS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Trading</a:t>
                      </a:r>
                      <a:r>
                        <a:rPr lang="en-US" altLang="zh-CN" sz="1600" baseline="0" dirty="0"/>
                        <a:t> assistant 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Sending</a:t>
                      </a:r>
                      <a:r>
                        <a:rPr lang="en-US" altLang="zh-CN" sz="1600" baseline="0" dirty="0"/>
                        <a:t> and checking orders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Funding</a:t>
                      </a:r>
                      <a:r>
                        <a:rPr lang="en-US" altLang="zh-CN" sz="1600" baseline="0" dirty="0"/>
                        <a:t> support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Managing</a:t>
                      </a:r>
                      <a:r>
                        <a:rPr lang="en-US" altLang="zh-CN" sz="1600" baseline="0" dirty="0"/>
                        <a:t> leveraging and collaterals  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B92DE-CA41-AC28-4160-340DB1147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Helvetica" panose="020B0604020202020204" pitchFamily="34" charset="0"/>
              </a:rPr>
              <a:t>Self-developed tools</a:t>
            </a:r>
            <a:endParaRPr lang="zh-CN" altLang="en-US" dirty="0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685FB-D1D7-CA19-B23A-456BD57F1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030972" cy="4575175"/>
          </a:xfrm>
        </p:spPr>
        <p:txBody>
          <a:bodyPr/>
          <a:lstStyle/>
          <a:p>
            <a:r>
              <a:rPr lang="en-US" altLang="zh-CN" dirty="0"/>
              <a:t>Curve generation based on affine models</a:t>
            </a:r>
          </a:p>
          <a:p>
            <a:r>
              <a:rPr lang="en-US" altLang="zh-CN" dirty="0"/>
              <a:t>Forward curve adjustment tools based market views</a:t>
            </a:r>
          </a:p>
          <a:p>
            <a:r>
              <a:rPr lang="en-US" altLang="zh-CN" dirty="0"/>
              <a:t>Statistical analysis tools for</a:t>
            </a:r>
          </a:p>
          <a:p>
            <a:pPr lvl="1"/>
            <a:r>
              <a:rPr lang="en-US" altLang="zh-CN" dirty="0"/>
              <a:t>sector selection</a:t>
            </a:r>
          </a:p>
          <a:p>
            <a:pPr lvl="1"/>
            <a:r>
              <a:rPr lang="en-US" altLang="zh-CN" dirty="0"/>
              <a:t>security selection</a:t>
            </a:r>
          </a:p>
          <a:p>
            <a:r>
              <a:rPr lang="en-US" altLang="zh-CN" dirty="0"/>
              <a:t>Bond-futures basis monitor</a:t>
            </a:r>
          </a:p>
          <a:p>
            <a:r>
              <a:rPr lang="en-US" altLang="zh-CN" dirty="0"/>
              <a:t>Order flow analysis tools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3781" y="1173725"/>
            <a:ext cx="5738113" cy="286564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3781" y="4056939"/>
            <a:ext cx="5738113" cy="2053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656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793</Words>
  <Application>Microsoft Office PowerPoint</Application>
  <PresentationFormat>宽屏</PresentationFormat>
  <Paragraphs>335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等线 Light</vt:lpstr>
      <vt:lpstr>宋体</vt:lpstr>
      <vt:lpstr>Arial</vt:lpstr>
      <vt:lpstr>Helvetica</vt:lpstr>
      <vt:lpstr>Office Theme</vt:lpstr>
      <vt:lpstr>Strategy Review and Business Plan </vt:lpstr>
      <vt:lpstr>Content</vt:lpstr>
      <vt:lpstr>Strategy Overview</vt:lpstr>
      <vt:lpstr>Philosophy</vt:lpstr>
      <vt:lpstr>Main strategies for different scenarios </vt:lpstr>
      <vt:lpstr>Portfolio: Investment process</vt:lpstr>
      <vt:lpstr>Portfolio: Track Record</vt:lpstr>
      <vt:lpstr>Portfolio: Book Composition</vt:lpstr>
      <vt:lpstr>Technology</vt:lpstr>
      <vt:lpstr>Self-developed tools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Strategy Review and Business Plan for the application to Millienium</dc:title>
  <dc:creator>CMBC</dc:creator>
  <cp:lastModifiedBy>Ma Yunfei</cp:lastModifiedBy>
  <cp:revision>59</cp:revision>
  <dcterms:created xsi:type="dcterms:W3CDTF">2024-06-12T12:47:00Z</dcterms:created>
  <dcterms:modified xsi:type="dcterms:W3CDTF">2025-01-20T09:52:01Z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954C4B2CA0BB4111A8F978FDAA1297B7_12</vt:lpwstr>
  </property>
  <property fmtid="{D5CDD505-2E9C-101B-9397-08002B2CF9AE}" pid="3" name="KSOProductBuildVer">
    <vt:lpwstr>2052-12.1.0.19770</vt:lpwstr>
  </property>
</Properties>
</file>